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53" r:id="rId2"/>
    <p:sldMasterId id="2147483694" r:id="rId3"/>
  </p:sldMasterIdLst>
  <p:notesMasterIdLst>
    <p:notesMasterId r:id="rId39"/>
  </p:notesMasterIdLst>
  <p:sldIdLst>
    <p:sldId id="312" r:id="rId4"/>
    <p:sldId id="317" r:id="rId5"/>
    <p:sldId id="314" r:id="rId6"/>
    <p:sldId id="304" r:id="rId7"/>
    <p:sldId id="316" r:id="rId8"/>
    <p:sldId id="305" r:id="rId9"/>
    <p:sldId id="306" r:id="rId10"/>
    <p:sldId id="307" r:id="rId11"/>
    <p:sldId id="308" r:id="rId12"/>
    <p:sldId id="310" r:id="rId13"/>
    <p:sldId id="309" r:id="rId14"/>
    <p:sldId id="311" r:id="rId15"/>
    <p:sldId id="315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313" r:id="rId38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D8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47" autoAdjust="0"/>
    <p:restoredTop sz="94660"/>
  </p:normalViewPr>
  <p:slideViewPr>
    <p:cSldViewPr>
      <p:cViewPr varScale="1">
        <p:scale>
          <a:sx n="98" d="100"/>
          <a:sy n="98" d="100"/>
        </p:scale>
        <p:origin x="103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91E56E-33BD-4AEB-A3A3-1DB148468ED2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725AB7-B868-4AA0-9C3C-F3E957EC8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024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9280A-14CC-4C69-B2B3-765E5F494A2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416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108">
              <a:defRPr sz="1400" b="1">
                <a:solidFill>
                  <a:schemeClr val="tx1"/>
                </a:solidFill>
                <a:latin typeface="Times New Roman" pitchFamily="18" charset="0"/>
              </a:defRPr>
            </a:lvl1pPr>
            <a:lvl2pPr marL="731286" indent="-281264" defTabSz="914108">
              <a:defRPr sz="14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25055" indent="-225011" defTabSz="914108">
              <a:defRPr sz="1400" b="1">
                <a:solidFill>
                  <a:schemeClr val="tx1"/>
                </a:solidFill>
                <a:latin typeface="Times New Roman" pitchFamily="18" charset="0"/>
              </a:defRPr>
            </a:lvl3pPr>
            <a:lvl4pPr marL="1575077" indent="-225011" defTabSz="914108">
              <a:defRPr sz="14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25099" indent="-225011" defTabSz="914108">
              <a:defRPr sz="1400" b="1">
                <a:solidFill>
                  <a:schemeClr val="tx1"/>
                </a:solidFill>
                <a:latin typeface="Times New Roman" pitchFamily="18" charset="0"/>
              </a:defRPr>
            </a:lvl5pPr>
            <a:lvl6pPr marL="2475121" indent="-225011" defTabSz="91410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25143" indent="-225011" defTabSz="91410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itchFamily="18" charset="0"/>
              </a:defRPr>
            </a:lvl7pPr>
            <a:lvl8pPr marL="3375165" indent="-225011" defTabSz="91410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25187" indent="-225011" defTabSz="91410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B333AE41-1B54-487F-9FBA-EF2498899D26}" type="slidenum">
              <a:rPr lang="en-US" altLang="en-US" sz="1200" b="0"/>
              <a:pPr/>
              <a:t>34</a:t>
            </a:fld>
            <a:endParaRPr lang="en-US" altLang="en-US" sz="1200" b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8351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5958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2" y="555526"/>
            <a:ext cx="8424936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79512" y="1203598"/>
            <a:ext cx="842493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457713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2" y="483518"/>
            <a:ext cx="424847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79512" y="1131590"/>
            <a:ext cx="424847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927735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-42902" y="455940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887988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9246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720790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792334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863879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0241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lIns="720000" anchor="ctr"/>
          <a:lstStyle>
            <a:lvl1pPr marL="0" indent="0" algn="l">
              <a:buNone/>
              <a:defRPr sz="18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6313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347864" y="627534"/>
            <a:ext cx="5796136" cy="10520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104000" y="1798321"/>
            <a:ext cx="5040000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824000" y="3465106"/>
            <a:ext cx="4320000" cy="10508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5812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937417" y="627534"/>
            <a:ext cx="1872000" cy="38164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1968708" y="627534"/>
            <a:ext cx="1872000" cy="38164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627534"/>
            <a:ext cx="1872000" cy="38164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6533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795621" y="627533"/>
            <a:ext cx="3294112" cy="11155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613166" y="3399271"/>
            <a:ext cx="3293944" cy="11166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3795621" y="1815095"/>
            <a:ext cx="1728192" cy="2700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5621504" y="1814524"/>
            <a:ext cx="1468228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7178918" y="627533"/>
            <a:ext cx="1728192" cy="26997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7589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11510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87574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4" name="Picture 3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57041" y="1313860"/>
            <a:ext cx="6438182" cy="327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81898" y="1731279"/>
            <a:ext cx="3085597" cy="22818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607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75603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384377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9BF909F-2C64-44E7-A017-31FB8691FA87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1FCBD457-1091-4ABB-ADC2-472C3283F2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0" y="2253238"/>
            <a:ext cx="4572000" cy="47357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0" y="2726814"/>
            <a:ext cx="45720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0"/>
            <a:ext cx="1728788" cy="51435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7319" y="841772"/>
            <a:ext cx="6593681" cy="179070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7319" y="2701528"/>
            <a:ext cx="6593681" cy="1241822"/>
          </a:xfrm>
        </p:spPr>
        <p:txBody>
          <a:bodyPr>
            <a:normAutofit/>
          </a:bodyPr>
          <a:lstStyle>
            <a:lvl1pPr marL="0" indent="0" algn="l">
              <a:buNone/>
              <a:defRPr sz="1500" cap="all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08133" y="4057651"/>
            <a:ext cx="2057400" cy="273844"/>
          </a:xfrm>
        </p:spPr>
        <p:txBody>
          <a:bodyPr/>
          <a:lstStyle/>
          <a:p>
            <a:fld id="{4AAD347D-5ACD-4C99-B74B-A9C85AD731AF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07318" y="4057651"/>
            <a:ext cx="3843665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2684" y="4057650"/>
            <a:ext cx="578317" cy="273844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5364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K" smtClean="0"/>
              <a:pPr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299761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064420"/>
            <a:ext cx="7429500" cy="2139553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318272"/>
            <a:ext cx="7429500" cy="1031082"/>
          </a:xfrm>
        </p:spPr>
        <p:txBody>
          <a:bodyPr>
            <a:normAutofit/>
          </a:bodyPr>
          <a:lstStyle>
            <a:lvl1pPr marL="0" indent="0">
              <a:buNone/>
              <a:defRPr sz="135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5675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1687114"/>
            <a:ext cx="3658792" cy="26562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687114"/>
            <a:ext cx="3656408" cy="26562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8846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64345"/>
            <a:ext cx="7429500" cy="11084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515" y="1687115"/>
            <a:ext cx="3487337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2305048"/>
            <a:ext cx="3658793" cy="2038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6" y="1687114"/>
            <a:ext cx="3484952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05048"/>
            <a:ext cx="3656408" cy="2038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7153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3854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F909F-2C64-44E7-A017-31FB8691FA87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BD457-1091-4ABB-ADC2-472C3283F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9819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457201"/>
            <a:ext cx="2892028" cy="1229913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444499"/>
            <a:ext cx="4418407" cy="389890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1687114"/>
            <a:ext cx="2892028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1864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4450881" cy="122991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5541" y="457201"/>
            <a:ext cx="2750018" cy="38861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1687114"/>
            <a:ext cx="4450883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7918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3228499"/>
            <a:ext cx="7434266" cy="614516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454819"/>
            <a:ext cx="7434266" cy="2474834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4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3843015"/>
            <a:ext cx="7433144" cy="51185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348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457200"/>
            <a:ext cx="7429466" cy="257175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314700"/>
            <a:ext cx="7428344" cy="1028699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2740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061322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524168"/>
            <a:ext cx="656422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232439"/>
            <a:ext cx="7429502" cy="1117122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677634" y="54929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3028" y="207372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4077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600531"/>
            <a:ext cx="7429501" cy="1883876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3493241"/>
            <a:ext cx="7428379" cy="855483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1579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005847"/>
            <a:ext cx="2397674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45939" y="2520197"/>
            <a:ext cx="2406551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008226"/>
            <a:ext cx="2388289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78160" y="2522576"/>
            <a:ext cx="2396873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005847"/>
            <a:ext cx="2396226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2520197"/>
            <a:ext cx="2396226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7530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457200"/>
            <a:ext cx="7429499" cy="1428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3303447"/>
            <a:ext cx="239643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000249"/>
            <a:ext cx="2396430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3735644"/>
            <a:ext cx="2396430" cy="61338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3303447"/>
            <a:ext cx="240030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000249"/>
            <a:ext cx="2399205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3735643"/>
            <a:ext cx="2400300" cy="60775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3303446"/>
            <a:ext cx="2393056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000249"/>
            <a:ext cx="2396227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3735641"/>
            <a:ext cx="2396226" cy="60775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6010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0644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457200"/>
            <a:ext cx="1503758" cy="3886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457200"/>
            <a:ext cx="5811443" cy="3886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814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3070850" y="0"/>
            <a:ext cx="6088050" cy="551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 rot="10800000">
            <a:off x="-36511" y="4592250"/>
            <a:ext cx="6088050" cy="55125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79512" y="123478"/>
            <a:ext cx="1440160" cy="33855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ctr"/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1" r:id="rId3"/>
    <p:sldLayoutId id="2147483660" r:id="rId4"/>
    <p:sldLayoutId id="2147483662" r:id="rId5"/>
    <p:sldLayoutId id="2147483655" r:id="rId6"/>
    <p:sldLayoutId id="2147483663" r:id="rId7"/>
    <p:sldLayoutId id="2147483664" r:id="rId8"/>
    <p:sldLayoutId id="2147483668" r:id="rId9"/>
    <p:sldLayoutId id="2147483665" r:id="rId10"/>
    <p:sldLayoutId id="2147483670" r:id="rId11"/>
    <p:sldLayoutId id="2147483656" r:id="rId12"/>
    <p:sldLayoutId id="2147483671" r:id="rId1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70850" y="0"/>
            <a:ext cx="6088050" cy="551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-36511" y="4592250"/>
            <a:ext cx="6088050" cy="55125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79512" y="123478"/>
            <a:ext cx="1440160" cy="33855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ctr"/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0716" y="0"/>
            <a:ext cx="9040416" cy="51435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1687115"/>
            <a:ext cx="7429499" cy="2656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0562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syedahsan90/" TargetMode="Externa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6551C300-1D7A-46C3-9EF6-0EAC9B1E1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EC1EDC6-1B42-4FCD-BC53-B1D05BFF2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715" y="0"/>
            <a:ext cx="9040414" cy="5143500"/>
            <a:chOff x="-14288" y="0"/>
            <a:chExt cx="12053888" cy="68580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33EFBCB-98A2-4F16-B3BB-BF9EC17846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4" name="Rectangle 5">
                <a:extLst>
                  <a:ext uri="{FF2B5EF4-FFF2-40B4-BE49-F238E27FC236}">
                    <a16:creationId xmlns:a16="http://schemas.microsoft.com/office/drawing/2014/main" id="{B399E29C-9CF8-4BD1-8750-949BA21268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CB02DFF7-56DA-42B6-B49A-C8926B841A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07F77B45-21CD-43DB-AD58-24F8145021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F0151C40-12A4-4A09-A8B6-179A062EF6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F0146EA7-EB82-410D-A6ED-7C10C525AD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20DD5C02-0C86-4FA9-B82A-254EF58D37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19ED9FD5-1147-400A-8A32-82A74F7AD8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E79E6A0D-4D79-4788-8769-B989488019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A6F42038-BF59-409A-902B-AD7799149A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D8B0BD48-5982-4C95-A7C8-E0D2306453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F6C539D3-C6BD-4FB0-AA91-5AF1BF14C5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id="{34F70AD6-B8F4-4F9D-8593-D4047107BD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51EAB0E0-5DE2-4906-80B0-211A624789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38E8B65E-526B-458D-85A5-21C0A1A74F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CCE331A2-5388-42F4-A175-69310C1BEF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9" name="Freeform 20">
                <a:extLst>
                  <a:ext uri="{FF2B5EF4-FFF2-40B4-BE49-F238E27FC236}">
                    <a16:creationId xmlns:a16="http://schemas.microsoft.com/office/drawing/2014/main" id="{4E758D69-ACA2-4888-84BB-B05B1FAF2A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id="{078AAA22-796B-4F0E-85DA-B8B0E81115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1" name="Freeform 22">
                <a:extLst>
                  <a:ext uri="{FF2B5EF4-FFF2-40B4-BE49-F238E27FC236}">
                    <a16:creationId xmlns:a16="http://schemas.microsoft.com/office/drawing/2014/main" id="{D1254A9A-3E31-4A25-9A91-F9BC6CF6A3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18CADB3C-936C-476A-A261-28DD5ABA73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3" name="Freeform 24">
                <a:extLst>
                  <a:ext uri="{FF2B5EF4-FFF2-40B4-BE49-F238E27FC236}">
                    <a16:creationId xmlns:a16="http://schemas.microsoft.com/office/drawing/2014/main" id="{771961D1-28D7-4CC1-A720-2933E8B913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id="{E7B8B616-B89E-4A1C-98DE-13B8B93947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id="{5D6CC1A1-D003-44BA-87E4-B3A7F3D300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FF32749B-B34C-4FCB-A33A-0478844A93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4455F261-AC57-4085-8989-4DBED747F1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id="{57CEA90D-DB58-4EC0-A55C-15FAF59E04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id="{66BBB005-2E38-496A-A46C-FD2B0605C1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id="{E1A7618C-DE9D-401A-AD7A-784F19DA85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E441C57-A0CF-4D49-9609-55CB4646B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" name="Freeform 32">
                <a:extLst>
                  <a:ext uri="{FF2B5EF4-FFF2-40B4-BE49-F238E27FC236}">
                    <a16:creationId xmlns:a16="http://schemas.microsoft.com/office/drawing/2014/main" id="{2D3240AD-75B9-452B-9967-D05B40DE5F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5" name="Freeform 33">
                <a:extLst>
                  <a:ext uri="{FF2B5EF4-FFF2-40B4-BE49-F238E27FC236}">
                    <a16:creationId xmlns:a16="http://schemas.microsoft.com/office/drawing/2014/main" id="{6A557EE5-4777-4655-A433-05006D8410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6" name="Freeform 34">
                <a:extLst>
                  <a:ext uri="{FF2B5EF4-FFF2-40B4-BE49-F238E27FC236}">
                    <a16:creationId xmlns:a16="http://schemas.microsoft.com/office/drawing/2014/main" id="{6B721B6E-8FF2-470B-A180-C594E82718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7" name="Freeform 35">
                <a:extLst>
                  <a:ext uri="{FF2B5EF4-FFF2-40B4-BE49-F238E27FC236}">
                    <a16:creationId xmlns:a16="http://schemas.microsoft.com/office/drawing/2014/main" id="{23E045A6-2D54-488D-B5F0-6885184308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8" name="Freeform 36">
                <a:extLst>
                  <a:ext uri="{FF2B5EF4-FFF2-40B4-BE49-F238E27FC236}">
                    <a16:creationId xmlns:a16="http://schemas.microsoft.com/office/drawing/2014/main" id="{2A4F07ED-57C7-4FF7-ABF8-793FC03A24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8829D0E6-D04F-4297-A784-6837F13ECA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0" name="Freeform 38">
                <a:extLst>
                  <a:ext uri="{FF2B5EF4-FFF2-40B4-BE49-F238E27FC236}">
                    <a16:creationId xmlns:a16="http://schemas.microsoft.com/office/drawing/2014/main" id="{9477D3D3-AA00-446F-B05D-EBBA25D3C9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1" name="Freeform 39">
                <a:extLst>
                  <a:ext uri="{FF2B5EF4-FFF2-40B4-BE49-F238E27FC236}">
                    <a16:creationId xmlns:a16="http://schemas.microsoft.com/office/drawing/2014/main" id="{5AC450AD-A350-42FA-B7EA-103D4416B4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2" name="Freeform 40">
                <a:extLst>
                  <a:ext uri="{FF2B5EF4-FFF2-40B4-BE49-F238E27FC236}">
                    <a16:creationId xmlns:a16="http://schemas.microsoft.com/office/drawing/2014/main" id="{A10F783A-EC27-47BE-A21D-3531A036FA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3" name="Rectangle 41">
                <a:extLst>
                  <a:ext uri="{FF2B5EF4-FFF2-40B4-BE49-F238E27FC236}">
                    <a16:creationId xmlns:a16="http://schemas.microsoft.com/office/drawing/2014/main" id="{A2CBE444-D00C-4C80-9F29-42A250C500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</p:grpSp>
      </p:grpSp>
      <p:pic>
        <p:nvPicPr>
          <p:cNvPr id="52" name="Picture 2">
            <a:extLst>
              <a:ext uri="{FF2B5EF4-FFF2-40B4-BE49-F238E27FC236}">
                <a16:creationId xmlns:a16="http://schemas.microsoft.com/office/drawing/2014/main" id="{705E34FB-F15B-4B97-A591-8EE92E5FA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Round Diagonal Corner Rectangle 6">
            <a:extLst>
              <a:ext uri="{FF2B5EF4-FFF2-40B4-BE49-F238E27FC236}">
                <a16:creationId xmlns:a16="http://schemas.microsoft.com/office/drawing/2014/main" id="{1E43660D-412A-41EF-9745-E92C0AC60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5408" y="606042"/>
            <a:ext cx="7670799" cy="3925796"/>
          </a:xfrm>
          <a:prstGeom prst="round2DiagRect">
            <a:avLst>
              <a:gd name="adj1" fmla="val 6185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:\Users\Affan-pc\Desktop\360_F_423517415_rOm3TqxilhSxkSajMIMkJsyJl4rlTZmB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92" r="-3" b="13699"/>
          <a:stretch>
            <a:fillRect/>
          </a:stretch>
        </p:blipFill>
        <p:spPr bwMode="auto">
          <a:xfrm>
            <a:off x="976708" y="852454"/>
            <a:ext cx="7188199" cy="3432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0391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FA93A830-B18C-1C43-F7D8-B023A6A53673}"/>
              </a:ext>
            </a:extLst>
          </p:cNvPr>
          <p:cNvSpPr txBox="1">
            <a:spLocks/>
          </p:cNvSpPr>
          <p:nvPr/>
        </p:nvSpPr>
        <p:spPr>
          <a:xfrm>
            <a:off x="228600" y="514350"/>
            <a:ext cx="5459288" cy="9570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788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8AC07C7-0DA5-DAC4-6CE8-2BEED06C809B}"/>
              </a:ext>
            </a:extLst>
          </p:cNvPr>
          <p:cNvSpPr txBox="1">
            <a:spLocks/>
          </p:cNvSpPr>
          <p:nvPr/>
        </p:nvSpPr>
        <p:spPr>
          <a:xfrm>
            <a:off x="381000" y="2190750"/>
            <a:ext cx="8305800" cy="1600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788" kern="1200" cap="all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zh-CN" sz="1300" dirty="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rPr>
              <a:t>BS COMPUTER SCIENCES PAF KIET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zh-CN" sz="1300" dirty="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rPr>
              <a:t>MS CYBERSECURITY  NED UNIVERSITY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zh-CN" sz="1300" dirty="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rPr>
              <a:t>UJ CONSULTANT NETWORK SECURITY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zh-CN" sz="1300" dirty="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rPr>
              <a:t>METATECHWARE  PROJECT MANAGER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zh-CN" sz="1300" dirty="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rPr>
              <a:t>NFT CIPHER  </a:t>
            </a:r>
            <a:r>
              <a:rPr lang="en-US" altLang="zh-CN" sz="1300" b="1" dirty="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rPr>
              <a:t>FOUNDER</a:t>
            </a:r>
            <a:r>
              <a:rPr lang="en-US" altLang="zh-CN" sz="1300" dirty="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zh-CN" sz="1300" dirty="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rPr>
              <a:t>ILMA UNIVERSITY LECTURER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zh-CN" sz="1300" dirty="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rPr>
              <a:t>AREA OF INTEREST: BLOCKCHAIN, CYBER SECURITY, CLOUD COMPUTING, QUANTUM COMPUTING</a:t>
            </a:r>
          </a:p>
          <a:p>
            <a:endParaRPr lang="en-US" altLang="zh-CN" sz="1300" dirty="0">
              <a:latin typeface="Times New Roman" panose="02020603050405020304" pitchFamily="18" charset="0"/>
              <a:ea typeface="PMingLiU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zh-CN" sz="1300" dirty="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  <a:hlinkClick r:id="rId2"/>
              </a:rPr>
              <a:t>https://www.linkedin.com/in/syedahsan90/</a:t>
            </a:r>
            <a:endParaRPr lang="en-US" altLang="zh-CN" sz="1300" dirty="0">
              <a:latin typeface="Times New Roman" panose="02020603050405020304" pitchFamily="18" charset="0"/>
              <a:ea typeface="PMingLiU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zh-CN" sz="1300" dirty="0">
              <a:latin typeface="Times New Roman" panose="02020603050405020304" pitchFamily="18" charset="0"/>
              <a:ea typeface="PMingLiU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zh-CN" sz="1300" dirty="0">
              <a:latin typeface="Times New Roman" panose="02020603050405020304" pitchFamily="18" charset="0"/>
              <a:ea typeface="PMingLiU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zh-CN" sz="1300" dirty="0">
              <a:latin typeface="Times New Roman" panose="02020603050405020304" pitchFamily="18" charset="0"/>
              <a:ea typeface="PMingLiU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013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5143499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9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0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1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2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3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4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5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6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7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8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9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0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1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2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3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4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5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6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7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8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9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0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1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2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3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4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2" cy="5143500"/>
            <a:chOff x="0" y="-1"/>
            <a:chExt cx="12192003" cy="6858001"/>
          </a:xfrm>
        </p:grpSpPr>
        <p:sp useBgFill="1">
          <p:nvSpPr>
            <p:cNvPr id="67" name="Rectangle 66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8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:p14="http://schemas.microsoft.com/office/powerpoint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0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36749" y="1676400"/>
            <a:ext cx="5270501" cy="1797050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4422" y="2175073"/>
            <a:ext cx="8236545" cy="908643"/>
            <a:chOff x="605895" y="2900097"/>
            <a:chExt cx="10982062" cy="1211524"/>
          </a:xfrm>
          <a:effectLst/>
        </p:grpSpPr>
        <p:sp>
          <p:nvSpPr>
            <p:cNvPr id="73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74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75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76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77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78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79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80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81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82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83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84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85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86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87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88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89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90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91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92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ext Placeholder 1"/>
          <p:cNvSpPr txBox="1">
            <a:spLocks/>
          </p:cNvSpPr>
          <p:nvPr/>
        </p:nvSpPr>
        <p:spPr>
          <a:xfrm>
            <a:off x="2000250" y="1746250"/>
            <a:ext cx="5143500" cy="10259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788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8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Welcome!!</a:t>
            </a:r>
          </a:p>
        </p:txBody>
      </p:sp>
      <p:sp>
        <p:nvSpPr>
          <p:cNvPr id="3" name="Text Placeholder 2"/>
          <p:cNvSpPr txBox="1">
            <a:spLocks/>
          </p:cNvSpPr>
          <p:nvPr/>
        </p:nvSpPr>
        <p:spPr>
          <a:xfrm>
            <a:off x="2000250" y="2701528"/>
            <a:ext cx="5143500" cy="7147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788" kern="1200" cap="all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en-US" altLang="ko-KR" sz="2000" dirty="0">
                <a:solidFill>
                  <a:schemeClr val="bg2"/>
                </a:solidFill>
              </a:rPr>
              <a:t>Introduction to CEH (Cyber security)</a:t>
            </a:r>
          </a:p>
        </p:txBody>
      </p:sp>
    </p:spTree>
    <p:extLst>
      <p:ext uri="{BB962C8B-B14F-4D97-AF65-F5344CB8AC3E}">
        <p14:creationId xmlns:p14="http://schemas.microsoft.com/office/powerpoint/2010/main" val="41170567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9200" y="400050"/>
            <a:ext cx="6324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Computer Security </a:t>
            </a:r>
          </a:p>
          <a:p>
            <a:endParaRPr lang="en-US" sz="2000" dirty="0"/>
          </a:p>
          <a:p>
            <a:r>
              <a:rPr lang="en-US" sz="2000" dirty="0"/>
              <a:t>• Keep the computer in secure place </a:t>
            </a:r>
          </a:p>
          <a:p>
            <a:r>
              <a:rPr lang="en-US" sz="2000" dirty="0"/>
              <a:t>• Create login password </a:t>
            </a:r>
          </a:p>
          <a:p>
            <a:r>
              <a:rPr lang="en-US" sz="2000" dirty="0"/>
              <a:t>• Setup BIOS password </a:t>
            </a:r>
          </a:p>
          <a:p>
            <a:endParaRPr lang="en-US" sz="2000" dirty="0"/>
          </a:p>
          <a:p>
            <a:r>
              <a:rPr lang="en-US" sz="2000" dirty="0"/>
              <a:t>Software and Data Security inside Computer </a:t>
            </a:r>
          </a:p>
          <a:p>
            <a:r>
              <a:rPr lang="en-US" sz="2000" dirty="0"/>
              <a:t>• Use of Antivirus and Antispyware software </a:t>
            </a:r>
          </a:p>
          <a:p>
            <a:r>
              <a:rPr lang="en-US" sz="2000" dirty="0"/>
              <a:t>• Software Firewall </a:t>
            </a:r>
          </a:p>
          <a:p>
            <a:r>
              <a:rPr lang="en-US" sz="2000" dirty="0"/>
              <a:t>• </a:t>
            </a:r>
            <a:r>
              <a:rPr lang="en-US" sz="2000" dirty="0" err="1"/>
              <a:t>Bitlocker</a:t>
            </a:r>
            <a:r>
              <a:rPr lang="en-US" sz="2000" dirty="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Picture 2">
            <a:extLst>
              <a:ext uri="{FF2B5EF4-FFF2-40B4-BE49-F238E27FC236}">
                <a16:creationId xmlns:a16="http://schemas.microsoft.com/office/drawing/2014/main" id="{43BCD4D4-0FCB-418E-9D58-033B2DB41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BC3E363D-4793-4E9B-88F5-58007346C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7" name="Picture 2">
            <a:extLst>
              <a:ext uri="{FF2B5EF4-FFF2-40B4-BE49-F238E27FC236}">
                <a16:creationId xmlns:a16="http://schemas.microsoft.com/office/drawing/2014/main" id="{AA3F2319-3466-4D84-ABE4-77BC773F3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is the CIA Triad in Cyber Security? | Threatscape Blog">
            <a:extLst>
              <a:ext uri="{FF2B5EF4-FFF2-40B4-BE49-F238E27FC236}">
                <a16:creationId xmlns:a16="http://schemas.microsoft.com/office/drawing/2014/main" id="{550D2A6F-B8BB-474C-DD1B-011F7CA6B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49312" y="723900"/>
            <a:ext cx="4245376" cy="3695700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008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66800" y="514350"/>
            <a:ext cx="74676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Key Factors in Data Security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3200" dirty="0"/>
              <a:t>• Confidentiality </a:t>
            </a:r>
          </a:p>
          <a:p>
            <a:r>
              <a:rPr lang="en-US" sz="3200" dirty="0"/>
              <a:t>• Integrity </a:t>
            </a:r>
          </a:p>
          <a:p>
            <a:r>
              <a:rPr lang="en-US" sz="3200" dirty="0"/>
              <a:t>• Availability </a:t>
            </a:r>
          </a:p>
          <a:p>
            <a:r>
              <a:rPr lang="en-US" sz="3200" dirty="0"/>
              <a:t>• Authenticity </a:t>
            </a:r>
          </a:p>
          <a:p>
            <a:r>
              <a:rPr lang="en-US" sz="3200" dirty="0"/>
              <a:t>• Non-Repudiation 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/>
              <a:t> Access 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66800" y="400051"/>
            <a:ext cx="75438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Confidentiality (Encryption) </a:t>
            </a:r>
          </a:p>
          <a:p>
            <a:r>
              <a:rPr lang="en-US" sz="2000" dirty="0"/>
              <a:t>• Protecting information from disclosure to unauthorized parties </a:t>
            </a:r>
          </a:p>
          <a:p>
            <a:endParaRPr lang="en-US" sz="2000" dirty="0"/>
          </a:p>
          <a:p>
            <a:r>
              <a:rPr lang="en-US" sz="2000" dirty="0"/>
              <a:t>• This type of access includes: </a:t>
            </a:r>
          </a:p>
          <a:p>
            <a:r>
              <a:rPr lang="en-US" sz="2000" dirty="0"/>
              <a:t>    Printing </a:t>
            </a:r>
          </a:p>
          <a:p>
            <a:r>
              <a:rPr lang="en-US" sz="2000" dirty="0"/>
              <a:t>    Displaying </a:t>
            </a:r>
          </a:p>
          <a:p>
            <a:r>
              <a:rPr lang="en-US" sz="2000" dirty="0"/>
              <a:t>Other forms of disclosure, including simply revealing the existing         of an object </a:t>
            </a:r>
          </a:p>
          <a:p>
            <a:endParaRPr lang="en-US" sz="2000" dirty="0"/>
          </a:p>
          <a:p>
            <a:r>
              <a:rPr lang="en-US" sz="2000" dirty="0"/>
              <a:t>•Information like Bank account statements, credit card numbers, personal information should be kept in secret </a:t>
            </a:r>
          </a:p>
          <a:p>
            <a:endParaRPr lang="en-US" sz="2000" dirty="0"/>
          </a:p>
          <a:p>
            <a:r>
              <a:rPr lang="en-US" sz="2000" dirty="0"/>
              <a:t>•Key component of protecting information is Encryption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42900"/>
            <a:ext cx="8763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Integrity </a:t>
            </a:r>
          </a:p>
          <a:p>
            <a:endParaRPr lang="en-US" sz="1600" dirty="0"/>
          </a:p>
          <a:p>
            <a:r>
              <a:rPr lang="en-US" sz="1600" dirty="0"/>
              <a:t>• Protecting information from being modified by unauthorized parties </a:t>
            </a:r>
          </a:p>
          <a:p>
            <a:endParaRPr lang="en-US" sz="1600" dirty="0"/>
          </a:p>
          <a:p>
            <a:r>
              <a:rPr lang="en-US" sz="1600" dirty="0"/>
              <a:t>• Modification includes: </a:t>
            </a:r>
          </a:p>
          <a:p>
            <a:r>
              <a:rPr lang="en-US" sz="1600" dirty="0"/>
              <a:t>  Writing </a:t>
            </a:r>
          </a:p>
          <a:p>
            <a:r>
              <a:rPr lang="en-US" sz="1600" dirty="0"/>
              <a:t>  Changing </a:t>
            </a:r>
          </a:p>
          <a:p>
            <a:r>
              <a:rPr lang="en-US" sz="1600" dirty="0"/>
              <a:t>  Changing status </a:t>
            </a:r>
          </a:p>
          <a:p>
            <a:r>
              <a:rPr lang="en-US" sz="1600" dirty="0"/>
              <a:t>  Deleting and </a:t>
            </a:r>
          </a:p>
          <a:p>
            <a:r>
              <a:rPr lang="en-US" sz="1600" dirty="0"/>
              <a:t>  Creating </a:t>
            </a:r>
          </a:p>
          <a:p>
            <a:endParaRPr lang="en-US" sz="1600" dirty="0"/>
          </a:p>
          <a:p>
            <a:r>
              <a:rPr lang="en-US" sz="1600" dirty="0"/>
              <a:t>• In online money transfer, if the information is tampered e.g. if the amount you sent is changed from $100 to </a:t>
            </a:r>
            <a:r>
              <a:rPr lang="en-US" sz="1600"/>
              <a:t>$1000 </a:t>
            </a:r>
            <a:r>
              <a:rPr lang="en-US" sz="1600" dirty="0"/>
              <a:t>then it could prove to be very costly </a:t>
            </a:r>
          </a:p>
          <a:p>
            <a:endParaRPr lang="en-US" sz="1600" dirty="0"/>
          </a:p>
          <a:p>
            <a:r>
              <a:rPr lang="en-US" sz="1600" dirty="0"/>
              <a:t>• Key component of protecting data is Hashing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00050"/>
            <a:ext cx="8305800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Availability</a:t>
            </a:r>
            <a:r>
              <a:rPr lang="en-US" sz="4000" b="1" dirty="0"/>
              <a:t> </a:t>
            </a:r>
          </a:p>
          <a:p>
            <a:endParaRPr lang="en-US" sz="2000" dirty="0"/>
          </a:p>
          <a:p>
            <a:r>
              <a:rPr lang="en-US" dirty="0"/>
              <a:t>• Ensure that the authorized parties are able to access the data all the time </a:t>
            </a:r>
          </a:p>
          <a:p>
            <a:endParaRPr lang="en-US" dirty="0"/>
          </a:p>
          <a:p>
            <a:r>
              <a:rPr lang="en-US" dirty="0"/>
              <a:t>• Denying access to information has become a very common attack nowadays. This is referred as </a:t>
            </a:r>
            <a:r>
              <a:rPr lang="en-US" dirty="0" err="1"/>
              <a:t>DDoS</a:t>
            </a:r>
            <a:r>
              <a:rPr lang="en-US" dirty="0"/>
              <a:t> attack </a:t>
            </a:r>
          </a:p>
          <a:p>
            <a:endParaRPr lang="en-US" dirty="0"/>
          </a:p>
          <a:p>
            <a:r>
              <a:rPr lang="en-US" dirty="0"/>
              <a:t>• Other factors may include incidents like power outage and natural disasters etc </a:t>
            </a:r>
          </a:p>
          <a:p>
            <a:endParaRPr lang="en-US" dirty="0"/>
          </a:p>
          <a:p>
            <a:r>
              <a:rPr lang="en-US" dirty="0"/>
              <a:t>• To ensure data availability, backups should be taken regularly, Disaster </a:t>
            </a:r>
          </a:p>
          <a:p>
            <a:r>
              <a:rPr lang="en-US" dirty="0"/>
              <a:t>Recovery (DR) procedures should be implemented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400050"/>
            <a:ext cx="76962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Authenticity </a:t>
            </a:r>
          </a:p>
          <a:p>
            <a:endParaRPr lang="en-US" sz="2400" dirty="0"/>
          </a:p>
          <a:p>
            <a:r>
              <a:rPr lang="en-US" dirty="0"/>
              <a:t>Authenticity is assurance that a message, transaction, or other exchange of information is from the source it claims to be from.</a:t>
            </a:r>
          </a:p>
          <a:p>
            <a:endParaRPr lang="en-US" dirty="0"/>
          </a:p>
          <a:p>
            <a:r>
              <a:rPr lang="en-US" dirty="0"/>
              <a:t>Key component for proving authenticity is digital signature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400050"/>
            <a:ext cx="8763000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Non-repudiation</a:t>
            </a:r>
            <a:r>
              <a:rPr lang="en-US" sz="4000" b="1" dirty="0"/>
              <a:t> </a:t>
            </a:r>
          </a:p>
          <a:p>
            <a:endParaRPr lang="en-US" dirty="0"/>
          </a:p>
          <a:p>
            <a:r>
              <a:rPr lang="en-US" sz="2000" dirty="0"/>
              <a:t>• Communication or any action that cannot be denied by the originator </a:t>
            </a:r>
          </a:p>
          <a:p>
            <a:endParaRPr lang="en-US" sz="2000" dirty="0"/>
          </a:p>
          <a:p>
            <a:r>
              <a:rPr lang="en-US" sz="2000" dirty="0"/>
              <a:t>• Sharing of Door Key cards and passwords should be strictly restricted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400050"/>
            <a:ext cx="7543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Access Control </a:t>
            </a:r>
          </a:p>
          <a:p>
            <a:endParaRPr lang="en-US" sz="2400" dirty="0"/>
          </a:p>
          <a:p>
            <a:pPr>
              <a:buFont typeface="Arial" pitchFamily="34" charset="0"/>
              <a:buChar char="•"/>
            </a:pPr>
            <a:r>
              <a:rPr lang="en-US" sz="2000" dirty="0"/>
              <a:t> Unauthorized users are kept out of the system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/>
              <a:t> Access to authorized users can also be controlled using security policies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2269A02-BDE0-B59D-687F-7D245F30F41C}"/>
              </a:ext>
            </a:extLst>
          </p:cNvPr>
          <p:cNvSpPr txBox="1">
            <a:spLocks noChangeArrowheads="1"/>
          </p:cNvSpPr>
          <p:nvPr/>
        </p:nvSpPr>
        <p:spPr>
          <a:xfrm>
            <a:off x="406400" y="228600"/>
            <a:ext cx="8432800" cy="470942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400"/>
              <a:t>Type of Attacks/Threats in Computer Systems</a:t>
            </a:r>
            <a:endParaRPr lang="en-US" altLang="en-US" sz="240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1CC819D-891F-6727-2944-C01945DC700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143000"/>
            <a:ext cx="83820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SzPct val="125000"/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SzPct val="125000"/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SzPct val="125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SzPct val="125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SzPct val="125000"/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SzPct val="125000"/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SzPct val="125000"/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SzPct val="125000"/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en-US" sz="2000"/>
              <a:t>A </a:t>
            </a:r>
            <a:r>
              <a:rPr lang="en-US" altLang="en-US" sz="2000" i="1"/>
              <a:t>threat</a:t>
            </a:r>
            <a:r>
              <a:rPr lang="en-US" altLang="en-US" sz="2000"/>
              <a:t> is a danger which could affect the security (confidentiality,      integrity, availability) of assets, leading to a potential loss or damage.</a:t>
            </a:r>
          </a:p>
          <a:p>
            <a:r>
              <a:rPr lang="en-US" altLang="en-US" sz="2000"/>
              <a:t>Interruption</a:t>
            </a:r>
          </a:p>
          <a:p>
            <a:r>
              <a:rPr lang="en-US" altLang="en-US" sz="2000"/>
              <a:t>Interception</a:t>
            </a:r>
          </a:p>
          <a:p>
            <a:r>
              <a:rPr lang="en-US" altLang="en-US" sz="2000"/>
              <a:t>Modification</a:t>
            </a:r>
          </a:p>
          <a:p>
            <a:r>
              <a:rPr lang="en-US" altLang="en-US" sz="2000"/>
              <a:t>Fabrication</a:t>
            </a:r>
            <a:endParaRPr lang="en-US" altLang="en-US" sz="2000" dirty="0"/>
          </a:p>
        </p:txBody>
      </p:sp>
      <p:pic>
        <p:nvPicPr>
          <p:cNvPr id="4" name="Picture 6" descr="C:\WINDOWS\Profiles\athar\Desktop\1.bmp">
            <a:extLst>
              <a:ext uri="{FF2B5EF4-FFF2-40B4-BE49-F238E27FC236}">
                <a16:creationId xmlns:a16="http://schemas.microsoft.com/office/drawing/2014/main" id="{159E3084-1BA3-6276-E25C-6D798E975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067694"/>
            <a:ext cx="6162675" cy="1918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419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228600"/>
            <a:ext cx="8432800" cy="470942"/>
          </a:xfrm>
        </p:spPr>
        <p:txBody>
          <a:bodyPr/>
          <a:lstStyle/>
          <a:p>
            <a:r>
              <a:rPr lang="en-US" altLang="en-US" sz="2400" dirty="0"/>
              <a:t>Type of Attacks in Computer Systems</a:t>
            </a:r>
          </a:p>
        </p:txBody>
      </p:sp>
      <p:pic>
        <p:nvPicPr>
          <p:cNvPr id="17412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0600" y="915566"/>
            <a:ext cx="7162800" cy="3657600"/>
          </a:xfr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150487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542950"/>
          </a:xfrm>
        </p:spPr>
        <p:txBody>
          <a:bodyPr/>
          <a:lstStyle/>
          <a:p>
            <a:r>
              <a:rPr lang="en-US" altLang="en-US" sz="2400" dirty="0"/>
              <a:t>Normal Flow of Information</a:t>
            </a:r>
          </a:p>
        </p:txBody>
      </p:sp>
      <p:pic>
        <p:nvPicPr>
          <p:cNvPr id="18436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1040" y="1059582"/>
            <a:ext cx="7647384" cy="2996948"/>
          </a:xfrm>
        </p:spPr>
      </p:pic>
    </p:spTree>
    <p:extLst>
      <p:ext uri="{BB962C8B-B14F-4D97-AF65-F5344CB8AC3E}">
        <p14:creationId xmlns:p14="http://schemas.microsoft.com/office/powerpoint/2010/main" val="7595384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8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542950"/>
          </a:xfrm>
        </p:spPr>
        <p:txBody>
          <a:bodyPr/>
          <a:lstStyle/>
          <a:p>
            <a:r>
              <a:rPr lang="en-US" altLang="en-US" sz="2800" dirty="0"/>
              <a:t>Interruption</a:t>
            </a:r>
          </a:p>
        </p:txBody>
      </p:sp>
      <p:sp>
        <p:nvSpPr>
          <p:cNvPr id="28681" name="Rectangle 9"/>
          <p:cNvSpPr>
            <a:spLocks noGrp="1" noChangeArrowheads="1"/>
          </p:cNvSpPr>
          <p:nvPr>
            <p:ph idx="1"/>
          </p:nvPr>
        </p:nvSpPr>
        <p:spPr>
          <a:xfrm>
            <a:off x="457200" y="987574"/>
            <a:ext cx="8382000" cy="3657600"/>
          </a:xfrm>
        </p:spPr>
        <p:txBody>
          <a:bodyPr/>
          <a:lstStyle/>
          <a:p>
            <a:r>
              <a:rPr lang="en-US" altLang="en-US" sz="2000" dirty="0"/>
              <a:t>An asset of the system is destroyed or becomes unavailable or          unusable.  This is an attack on the </a:t>
            </a:r>
            <a:r>
              <a:rPr lang="en-US" altLang="en-US" sz="2000" b="1" dirty="0">
                <a:solidFill>
                  <a:srgbClr val="0000FF"/>
                </a:solidFill>
              </a:rPr>
              <a:t>availability</a:t>
            </a:r>
            <a:r>
              <a:rPr lang="en-US" altLang="en-US" sz="2000" dirty="0"/>
              <a:t>.  </a:t>
            </a:r>
          </a:p>
          <a:p>
            <a:r>
              <a:rPr lang="en-US" altLang="en-US" sz="2000" dirty="0"/>
              <a:t>Examples include destruction of a piece of hardware, such as a hard disk, the cutting of a communication link, or the disabling of the file   management system.</a:t>
            </a:r>
          </a:p>
          <a:p>
            <a:r>
              <a:rPr lang="en-US" altLang="en-US" sz="2000" b="1" dirty="0"/>
              <a:t>DOS</a:t>
            </a:r>
            <a:r>
              <a:rPr lang="en-US" altLang="en-US" sz="2000" dirty="0"/>
              <a:t> - Denial of Service Attacks have become very well known.          [</a:t>
            </a:r>
            <a:r>
              <a:rPr lang="en-US" altLang="en-US" sz="2000" b="1" dirty="0">
                <a:solidFill>
                  <a:srgbClr val="0000FF"/>
                </a:solidFill>
              </a:rPr>
              <a:t>DDOS</a:t>
            </a:r>
            <a:r>
              <a:rPr lang="en-US" altLang="en-US" sz="2000" dirty="0"/>
              <a:t>]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63452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1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614958"/>
          </a:xfrm>
        </p:spPr>
        <p:txBody>
          <a:bodyPr/>
          <a:lstStyle/>
          <a:p>
            <a:r>
              <a:rPr lang="en-US" altLang="en-US" sz="2800" dirty="0"/>
              <a:t>Interruption</a:t>
            </a:r>
          </a:p>
        </p:txBody>
      </p:sp>
      <p:pic>
        <p:nvPicPr>
          <p:cNvPr id="20484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77280" y="1175518"/>
            <a:ext cx="6995120" cy="3052416"/>
          </a:xfrm>
        </p:spPr>
      </p:pic>
    </p:spTree>
    <p:extLst>
      <p:ext uri="{BB962C8B-B14F-4D97-AF65-F5344CB8AC3E}">
        <p14:creationId xmlns:p14="http://schemas.microsoft.com/office/powerpoint/2010/main" val="252582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542950"/>
          </a:xfrm>
        </p:spPr>
        <p:txBody>
          <a:bodyPr/>
          <a:lstStyle/>
          <a:p>
            <a:r>
              <a:rPr lang="en-US" altLang="en-US" sz="2800" dirty="0"/>
              <a:t>Interception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02382"/>
            <a:ext cx="8382000" cy="3657600"/>
          </a:xfrm>
        </p:spPr>
        <p:txBody>
          <a:bodyPr/>
          <a:lstStyle/>
          <a:p>
            <a:r>
              <a:rPr lang="en-US" altLang="en-US" sz="2000" dirty="0"/>
              <a:t>Information disclosure/information leakage</a:t>
            </a:r>
          </a:p>
          <a:p>
            <a:r>
              <a:rPr lang="en-US" altLang="en-US" sz="2000" dirty="0"/>
              <a:t>An unauthorized party gains access to an asset.  </a:t>
            </a:r>
          </a:p>
          <a:p>
            <a:r>
              <a:rPr lang="en-US" altLang="en-US" sz="2000" dirty="0"/>
              <a:t>This is an attack on </a:t>
            </a:r>
            <a:r>
              <a:rPr lang="en-US" altLang="en-US" sz="2000" b="1" dirty="0">
                <a:solidFill>
                  <a:srgbClr val="0000FF"/>
                </a:solidFill>
              </a:rPr>
              <a:t>confidentiality</a:t>
            </a:r>
            <a:r>
              <a:rPr lang="en-US" altLang="en-US" sz="2000" dirty="0"/>
              <a:t>.  </a:t>
            </a:r>
          </a:p>
          <a:p>
            <a:r>
              <a:rPr lang="en-US" altLang="en-US" sz="2000" dirty="0"/>
              <a:t>The unauthorized party could be a person, a program, or a computer.  </a:t>
            </a:r>
          </a:p>
          <a:p>
            <a:r>
              <a:rPr lang="en-US" altLang="en-US" sz="2000" dirty="0"/>
              <a:t>Examples include:</a:t>
            </a:r>
          </a:p>
          <a:p>
            <a:pPr lvl="1"/>
            <a:r>
              <a:rPr lang="en-US" altLang="en-US" sz="2000" dirty="0"/>
              <a:t>wiretapping to capture data in a network</a:t>
            </a:r>
          </a:p>
          <a:p>
            <a:pPr lvl="1"/>
            <a:r>
              <a:rPr lang="en-US" altLang="en-US" sz="2000" dirty="0"/>
              <a:t>the illicit copying of files or programs</a:t>
            </a:r>
          </a:p>
        </p:txBody>
      </p:sp>
    </p:spTree>
    <p:extLst>
      <p:ext uri="{BB962C8B-B14F-4D97-AF65-F5344CB8AC3E}">
        <p14:creationId xmlns:p14="http://schemas.microsoft.com/office/powerpoint/2010/main" val="3291380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614958"/>
          </a:xfrm>
        </p:spPr>
        <p:txBody>
          <a:bodyPr/>
          <a:lstStyle/>
          <a:p>
            <a:r>
              <a:rPr lang="en-US" altLang="en-US" sz="2800" dirty="0"/>
              <a:t>Interception</a:t>
            </a:r>
          </a:p>
        </p:txBody>
      </p:sp>
      <p:pic>
        <p:nvPicPr>
          <p:cNvPr id="22532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49288" y="987574"/>
            <a:ext cx="6851104" cy="2989573"/>
          </a:xfrm>
        </p:spPr>
      </p:pic>
    </p:spTree>
    <p:extLst>
      <p:ext uri="{BB962C8B-B14F-4D97-AF65-F5344CB8AC3E}">
        <p14:creationId xmlns:p14="http://schemas.microsoft.com/office/powerpoint/2010/main" val="1852753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470942"/>
          </a:xfrm>
        </p:spPr>
        <p:txBody>
          <a:bodyPr>
            <a:normAutofit fontScale="90000"/>
          </a:bodyPr>
          <a:lstStyle/>
          <a:p>
            <a:r>
              <a:rPr lang="en-US" altLang="en-US" sz="2800" dirty="0"/>
              <a:t>Modification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87574"/>
            <a:ext cx="8382000" cy="3657600"/>
          </a:xfrm>
        </p:spPr>
        <p:txBody>
          <a:bodyPr/>
          <a:lstStyle/>
          <a:p>
            <a:r>
              <a:rPr lang="en-US" altLang="en-US" sz="2400" dirty="0"/>
              <a:t>Modification is integrity violation.</a:t>
            </a:r>
          </a:p>
          <a:p>
            <a:r>
              <a:rPr lang="en-US" altLang="en-US" sz="2400" dirty="0"/>
              <a:t>An unauthorized party not only gains access to but            tampers with an asset.</a:t>
            </a:r>
          </a:p>
          <a:p>
            <a:r>
              <a:rPr lang="en-US" altLang="en-US" sz="2400" dirty="0"/>
              <a:t>This is an attack on the </a:t>
            </a:r>
            <a:r>
              <a:rPr lang="en-US" altLang="en-US" sz="2400" b="1" dirty="0">
                <a:solidFill>
                  <a:srgbClr val="0000FF"/>
                </a:solidFill>
              </a:rPr>
              <a:t>integrity</a:t>
            </a:r>
            <a:r>
              <a:rPr lang="en-US" altLang="en-US" sz="2400" dirty="0"/>
              <a:t>.</a:t>
            </a:r>
          </a:p>
          <a:p>
            <a:r>
              <a:rPr lang="en-US" altLang="en-US" sz="2400" dirty="0"/>
              <a:t>Examples include changing values in a data file, altering  a program so that it performs differently, and modifying     the content of a message being transmitted in a network.</a:t>
            </a:r>
          </a:p>
        </p:txBody>
      </p:sp>
    </p:spTree>
    <p:extLst>
      <p:ext uri="{BB962C8B-B14F-4D97-AF65-F5344CB8AC3E}">
        <p14:creationId xmlns:p14="http://schemas.microsoft.com/office/powerpoint/2010/main" val="2024677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542950"/>
          </a:xfrm>
        </p:spPr>
        <p:txBody>
          <a:bodyPr/>
          <a:lstStyle/>
          <a:p>
            <a:r>
              <a:rPr lang="en-US" altLang="en-US" sz="2800" dirty="0"/>
              <a:t>Modification</a:t>
            </a:r>
          </a:p>
        </p:txBody>
      </p:sp>
      <p:pic>
        <p:nvPicPr>
          <p:cNvPr id="24580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77280" y="987574"/>
            <a:ext cx="7067128" cy="3083838"/>
          </a:xfrm>
        </p:spPr>
      </p:pic>
    </p:spTree>
    <p:extLst>
      <p:ext uri="{BB962C8B-B14F-4D97-AF65-F5344CB8AC3E}">
        <p14:creationId xmlns:p14="http://schemas.microsoft.com/office/powerpoint/2010/main" val="12245210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470942"/>
          </a:xfrm>
        </p:spPr>
        <p:txBody>
          <a:bodyPr>
            <a:normAutofit fontScale="90000"/>
          </a:bodyPr>
          <a:lstStyle/>
          <a:p>
            <a:r>
              <a:rPr lang="en-US" altLang="en-US" sz="2800" dirty="0"/>
              <a:t>Fabrication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9582"/>
            <a:ext cx="8382000" cy="3657600"/>
          </a:xfrm>
        </p:spPr>
        <p:txBody>
          <a:bodyPr/>
          <a:lstStyle/>
          <a:p>
            <a:r>
              <a:rPr lang="en-US" altLang="en-US" sz="2400" dirty="0"/>
              <a:t>An unauthorized party inserts counterfeit objects into the  system.  This is an attack on the </a:t>
            </a:r>
            <a:r>
              <a:rPr lang="en-US" altLang="en-US" sz="2400" b="1" dirty="0">
                <a:solidFill>
                  <a:srgbClr val="0000FF"/>
                </a:solidFill>
              </a:rPr>
              <a:t>authenticity</a:t>
            </a:r>
            <a:r>
              <a:rPr lang="en-US" altLang="en-US" sz="2400" dirty="0"/>
              <a:t>, (as well as </a:t>
            </a:r>
            <a:r>
              <a:rPr lang="en-US" altLang="en-US" sz="2400" b="1" dirty="0">
                <a:solidFill>
                  <a:srgbClr val="0000FF"/>
                </a:solidFill>
              </a:rPr>
              <a:t>integrity</a:t>
            </a:r>
            <a:r>
              <a:rPr lang="en-US" altLang="en-US" sz="2400" dirty="0"/>
              <a:t>).  </a:t>
            </a:r>
          </a:p>
          <a:p>
            <a:r>
              <a:rPr lang="en-US" sz="2400" dirty="0"/>
              <a:t>Inserting messages into the network using the identity of  another individual</a:t>
            </a:r>
          </a:p>
          <a:p>
            <a:r>
              <a:rPr lang="en-US" sz="2400" dirty="0"/>
              <a:t>Spoofing a web site or other network service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69207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Fabrication</a:t>
            </a:r>
          </a:p>
        </p:txBody>
      </p:sp>
      <p:pic>
        <p:nvPicPr>
          <p:cNvPr id="26628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47664" y="1273711"/>
            <a:ext cx="6275040" cy="2738199"/>
          </a:xfrm>
        </p:spPr>
      </p:pic>
    </p:spTree>
    <p:extLst>
      <p:ext uri="{BB962C8B-B14F-4D97-AF65-F5344CB8AC3E}">
        <p14:creationId xmlns:p14="http://schemas.microsoft.com/office/powerpoint/2010/main" val="2736125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Classification of Attacks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438472" y="930374"/>
            <a:ext cx="8382000" cy="3657600"/>
          </a:xfrm>
        </p:spPr>
        <p:txBody>
          <a:bodyPr/>
          <a:lstStyle/>
          <a:p>
            <a:r>
              <a:rPr lang="en-US" altLang="en-US" sz="2000" dirty="0"/>
              <a:t>Computer Security attacks can be classified into two broad categories:</a:t>
            </a:r>
          </a:p>
          <a:p>
            <a:pPr lvl="1"/>
            <a:r>
              <a:rPr lang="en-US" altLang="en-US" sz="2000" b="1" dirty="0"/>
              <a:t>Passive Attacks</a:t>
            </a:r>
            <a:r>
              <a:rPr lang="en-US" altLang="en-US" sz="2000" dirty="0"/>
              <a:t> can </a:t>
            </a:r>
            <a:r>
              <a:rPr lang="en-US" altLang="en-US" sz="2000" dirty="0">
                <a:solidFill>
                  <a:srgbClr val="0000FF"/>
                </a:solidFill>
              </a:rPr>
              <a:t>only observe</a:t>
            </a:r>
            <a:r>
              <a:rPr lang="en-US" altLang="en-US" sz="2000" dirty="0"/>
              <a:t> communications or data.</a:t>
            </a:r>
          </a:p>
          <a:p>
            <a:pPr lvl="1"/>
            <a:r>
              <a:rPr lang="en-US" altLang="en-US" sz="2000" b="1" dirty="0"/>
              <a:t>Active Attacks</a:t>
            </a:r>
            <a:r>
              <a:rPr lang="en-US" altLang="en-US" sz="2000" dirty="0"/>
              <a:t> can </a:t>
            </a:r>
            <a:r>
              <a:rPr lang="en-US" altLang="en-US" sz="2000" dirty="0">
                <a:solidFill>
                  <a:srgbClr val="0000FF"/>
                </a:solidFill>
              </a:rPr>
              <a:t>actively modify</a:t>
            </a:r>
            <a:r>
              <a:rPr lang="en-US" altLang="en-US" sz="2000" dirty="0"/>
              <a:t> communications or data.       Often difficult to perform, but very powerful.  Examples include</a:t>
            </a:r>
          </a:p>
          <a:p>
            <a:pPr lvl="2"/>
            <a:r>
              <a:rPr lang="en-US" altLang="en-US" sz="2000" dirty="0"/>
              <a:t>Mail forgery/modification</a:t>
            </a:r>
          </a:p>
          <a:p>
            <a:pPr lvl="2"/>
            <a:r>
              <a:rPr lang="en-US" altLang="en-US" sz="2000" dirty="0"/>
              <a:t>TCP/IP /session hijacking</a:t>
            </a:r>
          </a:p>
        </p:txBody>
      </p:sp>
    </p:spTree>
    <p:extLst>
      <p:ext uri="{BB962C8B-B14F-4D97-AF65-F5344CB8AC3E}">
        <p14:creationId xmlns:p14="http://schemas.microsoft.com/office/powerpoint/2010/main" val="6385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1030"/>
          <p:cNvSpPr>
            <a:spLocks noGrp="1" noChangeArrowheads="1"/>
          </p:cNvSpPr>
          <p:nvPr>
            <p:ph type="title"/>
          </p:nvPr>
        </p:nvSpPr>
        <p:spPr>
          <a:xfrm>
            <a:off x="171648" y="228600"/>
            <a:ext cx="8432800" cy="542950"/>
          </a:xfrm>
        </p:spPr>
        <p:txBody>
          <a:bodyPr/>
          <a:lstStyle/>
          <a:p>
            <a:r>
              <a:rPr lang="en-US" altLang="en-US" sz="2800" dirty="0"/>
              <a:t>Passive Attacks and Active Attacks</a:t>
            </a:r>
          </a:p>
        </p:txBody>
      </p:sp>
      <p:pic>
        <p:nvPicPr>
          <p:cNvPr id="28676" name="Picture 102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635646"/>
            <a:ext cx="7239000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08057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3"/>
          <p:cNvSpPr>
            <a:spLocks noGrp="1" noChangeArrowheads="1"/>
          </p:cNvSpPr>
          <p:nvPr>
            <p:ph type="title"/>
          </p:nvPr>
        </p:nvSpPr>
        <p:spPr>
          <a:xfrm>
            <a:off x="1259632" y="267494"/>
            <a:ext cx="5832648" cy="504056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sz="2800" dirty="0"/>
              <a:t>Passive Attacks and Active Attacks</a:t>
            </a:r>
          </a:p>
        </p:txBody>
      </p:sp>
      <p:pic>
        <p:nvPicPr>
          <p:cNvPr id="29699" name="Picture 2"/>
          <p:cNvPicPr>
            <a:picLocks noGrp="1" noChangeAspect="1" noChangeArrowheads="1"/>
          </p:cNvPicPr>
          <p:nvPr>
            <p:ph type="clipArt"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971550"/>
            <a:ext cx="5856288" cy="369570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3369345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542950"/>
          </a:xfrm>
        </p:spPr>
        <p:txBody>
          <a:bodyPr/>
          <a:lstStyle/>
          <a:p>
            <a:r>
              <a:rPr lang="en-US" altLang="en-US" sz="2800" dirty="0"/>
              <a:t>Passive Attacks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87574"/>
            <a:ext cx="8382000" cy="3384376"/>
          </a:xfrm>
        </p:spPr>
        <p:txBody>
          <a:bodyPr/>
          <a:lstStyle/>
          <a:p>
            <a:r>
              <a:rPr lang="en-US" altLang="en-US" sz="2400" dirty="0"/>
              <a:t>Eavesdropping on or monitoring of transmission.</a:t>
            </a:r>
          </a:p>
          <a:p>
            <a:r>
              <a:rPr lang="en-US" altLang="en-US" sz="2400" dirty="0"/>
              <a:t>The goal of the opponent is to </a:t>
            </a:r>
            <a:r>
              <a:rPr lang="en-US" altLang="en-US" sz="2400" dirty="0">
                <a:solidFill>
                  <a:srgbClr val="0000FF"/>
                </a:solidFill>
              </a:rPr>
              <a:t>obtain information</a:t>
            </a:r>
            <a:r>
              <a:rPr lang="en-US" altLang="en-US" sz="2400" dirty="0"/>
              <a:t> that is   being transmitted.</a:t>
            </a:r>
          </a:p>
          <a:p>
            <a:r>
              <a:rPr lang="en-US" altLang="en-US" sz="2400" dirty="0"/>
              <a:t>Two types:</a:t>
            </a:r>
          </a:p>
          <a:p>
            <a:pPr lvl="1"/>
            <a:r>
              <a:rPr lang="en-US" altLang="en-US" sz="2400" dirty="0"/>
              <a:t>Release-of-message contents</a:t>
            </a:r>
          </a:p>
          <a:p>
            <a:pPr lvl="1"/>
            <a:r>
              <a:rPr lang="en-US" altLang="en-US" sz="2400" dirty="0"/>
              <a:t>Traffic Analysis</a:t>
            </a:r>
          </a:p>
        </p:txBody>
      </p:sp>
    </p:spTree>
    <p:extLst>
      <p:ext uri="{BB962C8B-B14F-4D97-AF65-F5344CB8AC3E}">
        <p14:creationId xmlns:p14="http://schemas.microsoft.com/office/powerpoint/2010/main" val="1126034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228600"/>
            <a:ext cx="8432800" cy="614958"/>
          </a:xfrm>
        </p:spPr>
        <p:txBody>
          <a:bodyPr/>
          <a:lstStyle/>
          <a:p>
            <a:r>
              <a:rPr lang="en-US" altLang="en-US" sz="2800" dirty="0"/>
              <a:t>Release-of-message Contents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915566"/>
            <a:ext cx="8382000" cy="3657600"/>
          </a:xfrm>
        </p:spPr>
        <p:txBody>
          <a:bodyPr/>
          <a:lstStyle/>
          <a:p>
            <a:pPr>
              <a:defRPr/>
            </a:pPr>
            <a:r>
              <a:rPr lang="en-US" sz="2400" dirty="0"/>
              <a:t>Opponent finds out the contents or the actual messages  being transmitted.</a:t>
            </a:r>
          </a:p>
          <a:p>
            <a:pPr>
              <a:defRPr/>
            </a:pPr>
            <a:r>
              <a:rPr lang="en-US" sz="2400" dirty="0"/>
              <a:t>How to protect?</a:t>
            </a:r>
          </a:p>
          <a:p>
            <a:pPr lvl="1">
              <a:defRPr/>
            </a:pPr>
            <a:r>
              <a:rPr lang="en-US" sz="2400" dirty="0">
                <a:solidFill>
                  <a:srgbClr val="0000FF"/>
                </a:solidFill>
              </a:rPr>
              <a:t>Encryption</a:t>
            </a:r>
          </a:p>
          <a:p>
            <a:pPr marL="457200" lvl="1" indent="0">
              <a:buFont typeface="Wingdings" pitchFamily="2" charset="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806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542950"/>
          </a:xfrm>
        </p:spPr>
        <p:txBody>
          <a:bodyPr/>
          <a:lstStyle/>
          <a:p>
            <a:r>
              <a:rPr lang="en-US" altLang="en-US" sz="2800" dirty="0"/>
              <a:t>Traffic Analysis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87574"/>
            <a:ext cx="8382000" cy="3384376"/>
          </a:xfrm>
        </p:spPr>
        <p:txBody>
          <a:bodyPr/>
          <a:lstStyle/>
          <a:p>
            <a:r>
              <a:rPr lang="en-US" altLang="en-US" sz="2000" dirty="0"/>
              <a:t>More subtle than release-of-message contents.</a:t>
            </a:r>
          </a:p>
          <a:p>
            <a:r>
              <a:rPr lang="en-US" altLang="en-US" sz="2000" dirty="0"/>
              <a:t>Messages may be kept secret by masking or encryption but …</a:t>
            </a:r>
          </a:p>
          <a:p>
            <a:r>
              <a:rPr lang="en-US" altLang="en-US" sz="2000" dirty="0"/>
              <a:t>The opponent figures out information being carried by the messages based on the frequency and timings of the message.</a:t>
            </a:r>
          </a:p>
          <a:p>
            <a:r>
              <a:rPr lang="en-US" altLang="en-US" sz="2000" dirty="0"/>
              <a:t>How to protect?</a:t>
            </a:r>
          </a:p>
          <a:p>
            <a:pPr lvl="1"/>
            <a:r>
              <a:rPr lang="en-US" altLang="en-US" sz="2000" dirty="0">
                <a:solidFill>
                  <a:srgbClr val="0000FF"/>
                </a:solidFill>
              </a:rPr>
              <a:t>Data/Message Padding</a:t>
            </a:r>
          </a:p>
          <a:p>
            <a:pPr lvl="1"/>
            <a:r>
              <a:rPr lang="en-US" altLang="en-US" sz="2000" dirty="0">
                <a:solidFill>
                  <a:srgbClr val="0000FF"/>
                </a:solidFill>
              </a:rPr>
              <a:t>Filler Sequences</a:t>
            </a:r>
          </a:p>
        </p:txBody>
      </p:sp>
    </p:spTree>
    <p:extLst>
      <p:ext uri="{BB962C8B-B14F-4D97-AF65-F5344CB8AC3E}">
        <p14:creationId xmlns:p14="http://schemas.microsoft.com/office/powerpoint/2010/main" val="2308433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542950"/>
          </a:xfrm>
        </p:spPr>
        <p:txBody>
          <a:bodyPr/>
          <a:lstStyle/>
          <a:p>
            <a:r>
              <a:rPr lang="en-US" altLang="en-US" sz="2800" dirty="0"/>
              <a:t>Passive Attacks Problems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00150"/>
            <a:ext cx="8382000" cy="2955776"/>
          </a:xfrm>
        </p:spPr>
        <p:txBody>
          <a:bodyPr/>
          <a:lstStyle/>
          <a:p>
            <a:r>
              <a:rPr lang="en-US" altLang="en-US" sz="2400" dirty="0"/>
              <a:t>Difficult to detect because there is no modification of data.</a:t>
            </a:r>
          </a:p>
          <a:p>
            <a:r>
              <a:rPr lang="en-US" altLang="en-US" sz="2400" dirty="0"/>
              <a:t>Protection approach should be based on </a:t>
            </a:r>
            <a:r>
              <a:rPr lang="en-US" altLang="en-US" sz="2400" dirty="0">
                <a:solidFill>
                  <a:srgbClr val="0000FF"/>
                </a:solidFill>
              </a:rPr>
              <a:t>prevention</a:t>
            </a:r>
            <a:r>
              <a:rPr lang="en-US" altLang="en-US" sz="2400" dirty="0"/>
              <a:t>          rather than </a:t>
            </a:r>
            <a:r>
              <a:rPr lang="en-US" altLang="en-US" sz="2400" dirty="0">
                <a:solidFill>
                  <a:srgbClr val="0000FF"/>
                </a:solidFill>
              </a:rPr>
              <a:t>detection</a:t>
            </a:r>
            <a:r>
              <a:rPr lang="en-US" alt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9692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542950"/>
          </a:xfrm>
        </p:spPr>
        <p:txBody>
          <a:bodyPr/>
          <a:lstStyle/>
          <a:p>
            <a:r>
              <a:rPr lang="en-US" altLang="en-US" sz="2800" dirty="0"/>
              <a:t>Active Attacks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87574"/>
            <a:ext cx="8382000" cy="3456384"/>
          </a:xfrm>
        </p:spPr>
        <p:txBody>
          <a:bodyPr/>
          <a:lstStyle/>
          <a:p>
            <a:r>
              <a:rPr lang="en-US" altLang="en-US" sz="2400" dirty="0"/>
              <a:t>Active attacks involve some sort of </a:t>
            </a:r>
            <a:r>
              <a:rPr lang="en-US" altLang="en-US" sz="2400" b="1" dirty="0">
                <a:solidFill>
                  <a:srgbClr val="0000FF"/>
                </a:solidFill>
              </a:rPr>
              <a:t>modification</a:t>
            </a:r>
            <a:r>
              <a:rPr lang="en-US" altLang="en-US" sz="2400" dirty="0"/>
              <a:t> of the    data stream or the creation of a false stream.  </a:t>
            </a:r>
          </a:p>
          <a:p>
            <a:r>
              <a:rPr lang="en-US" altLang="en-US" sz="2400" dirty="0"/>
              <a:t>Four sub-categories:</a:t>
            </a:r>
          </a:p>
          <a:p>
            <a:pPr lvl="1"/>
            <a:r>
              <a:rPr lang="en-US" altLang="en-US" sz="2400" dirty="0"/>
              <a:t>Masquerade</a:t>
            </a:r>
          </a:p>
          <a:p>
            <a:pPr lvl="1"/>
            <a:r>
              <a:rPr lang="en-US" altLang="en-US" sz="2400" dirty="0"/>
              <a:t>Replay</a:t>
            </a:r>
          </a:p>
          <a:p>
            <a:pPr lvl="1"/>
            <a:r>
              <a:rPr lang="en-US" altLang="en-US" sz="2400" dirty="0"/>
              <a:t>Modification of Messages</a:t>
            </a:r>
          </a:p>
          <a:p>
            <a:pPr lvl="1"/>
            <a:r>
              <a:rPr lang="en-US" altLang="en-US" sz="2400" dirty="0"/>
              <a:t>Denial of service</a:t>
            </a:r>
          </a:p>
        </p:txBody>
      </p:sp>
    </p:spTree>
    <p:extLst>
      <p:ext uri="{BB962C8B-B14F-4D97-AF65-F5344CB8AC3E}">
        <p14:creationId xmlns:p14="http://schemas.microsoft.com/office/powerpoint/2010/main" val="4070539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614958"/>
          </a:xfrm>
        </p:spPr>
        <p:txBody>
          <a:bodyPr/>
          <a:lstStyle/>
          <a:p>
            <a:r>
              <a:rPr lang="en-US" altLang="en-US" sz="2800" dirty="0"/>
              <a:t>Masquerade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30374"/>
            <a:ext cx="8382000" cy="3657600"/>
          </a:xfrm>
        </p:spPr>
        <p:txBody>
          <a:bodyPr/>
          <a:lstStyle/>
          <a:p>
            <a:r>
              <a:rPr lang="en-US" altLang="en-US" sz="2400" dirty="0"/>
              <a:t>An entity </a:t>
            </a:r>
            <a:r>
              <a:rPr lang="en-US" altLang="en-US" sz="2400" b="1" dirty="0">
                <a:solidFill>
                  <a:srgbClr val="0000FF"/>
                </a:solidFill>
              </a:rPr>
              <a:t>pretends</a:t>
            </a:r>
            <a:r>
              <a:rPr lang="en-US" altLang="en-US" sz="2400" dirty="0"/>
              <a:t> to be another.</a:t>
            </a:r>
          </a:p>
          <a:p>
            <a:r>
              <a:rPr lang="en-US" altLang="en-US" sz="2400" dirty="0"/>
              <a:t>For the purpose of doing some other form of attack.</a:t>
            </a:r>
          </a:p>
          <a:p>
            <a:r>
              <a:rPr lang="en-US" altLang="en-US" sz="2400" dirty="0"/>
              <a:t>How to protect?</a:t>
            </a:r>
          </a:p>
          <a:p>
            <a:pPr lvl="1"/>
            <a:r>
              <a:rPr lang="en-US" altLang="en-US" sz="2400" dirty="0"/>
              <a:t>Principal/Entity </a:t>
            </a:r>
            <a:r>
              <a:rPr lang="en-US" altLang="en-US" sz="2400" b="1" dirty="0">
                <a:solidFill>
                  <a:srgbClr val="0000FF"/>
                </a:solidFill>
              </a:rPr>
              <a:t>Authentication</a:t>
            </a:r>
          </a:p>
        </p:txBody>
      </p:sp>
    </p:spTree>
    <p:extLst>
      <p:ext uri="{BB962C8B-B14F-4D97-AF65-F5344CB8AC3E}">
        <p14:creationId xmlns:p14="http://schemas.microsoft.com/office/powerpoint/2010/main" val="2960012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542950"/>
          </a:xfrm>
        </p:spPr>
        <p:txBody>
          <a:bodyPr/>
          <a:lstStyle/>
          <a:p>
            <a:r>
              <a:rPr lang="en-US" altLang="en-US" sz="2800" dirty="0"/>
              <a:t>Replay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87574"/>
            <a:ext cx="8382000" cy="3456384"/>
          </a:xfrm>
        </p:spPr>
        <p:txBody>
          <a:bodyPr>
            <a:normAutofit fontScale="92500"/>
          </a:bodyPr>
          <a:lstStyle/>
          <a:p>
            <a:r>
              <a:rPr lang="en-US" altLang="en-US" sz="2400" dirty="0"/>
              <a:t>First </a:t>
            </a:r>
            <a:r>
              <a:rPr lang="en-US" altLang="en-US" sz="2400" b="1" dirty="0">
                <a:solidFill>
                  <a:srgbClr val="0000FF"/>
                </a:solidFill>
              </a:rPr>
              <a:t>passive</a:t>
            </a:r>
            <a:r>
              <a:rPr lang="en-US" altLang="en-US" sz="2400" dirty="0"/>
              <a:t> capture of data and then its </a:t>
            </a:r>
            <a:r>
              <a:rPr lang="en-US" altLang="en-US" sz="2400" b="1" dirty="0">
                <a:solidFill>
                  <a:srgbClr val="0000FF"/>
                </a:solidFill>
              </a:rPr>
              <a:t>retransmission</a:t>
            </a:r>
            <a:r>
              <a:rPr lang="en-US" altLang="en-US" sz="2400" dirty="0"/>
              <a:t> to produce an unauthorized effect.</a:t>
            </a:r>
          </a:p>
          <a:p>
            <a:r>
              <a:rPr lang="en-US" altLang="en-US" sz="2400" dirty="0"/>
              <a:t>Could be disastrous in case of </a:t>
            </a:r>
            <a:r>
              <a:rPr lang="en-US" altLang="en-US" sz="2400" dirty="0">
                <a:solidFill>
                  <a:srgbClr val="0000FF"/>
                </a:solidFill>
              </a:rPr>
              <a:t>critical messages</a:t>
            </a:r>
            <a:r>
              <a:rPr lang="en-US" altLang="en-US" sz="2400" dirty="0"/>
              <a:t> such as </a:t>
            </a:r>
            <a:r>
              <a:rPr lang="en-US" altLang="en-US" sz="2400" dirty="0">
                <a:solidFill>
                  <a:srgbClr val="0000FF"/>
                </a:solidFill>
              </a:rPr>
              <a:t>authentication sequences</a:t>
            </a:r>
            <a:r>
              <a:rPr lang="en-US" altLang="en-US" sz="2400" dirty="0"/>
              <a:t>, even if the password were       encrypted.</a:t>
            </a:r>
          </a:p>
          <a:p>
            <a:r>
              <a:rPr lang="en-US" altLang="en-US" sz="2400" dirty="0"/>
              <a:t>How to protect?</a:t>
            </a:r>
          </a:p>
          <a:p>
            <a:pPr lvl="1"/>
            <a:r>
              <a:rPr lang="en-US" altLang="en-US" sz="2400" dirty="0"/>
              <a:t>Time stamps</a:t>
            </a:r>
          </a:p>
          <a:p>
            <a:pPr lvl="1"/>
            <a:r>
              <a:rPr lang="en-US" altLang="en-US" sz="2400" dirty="0"/>
              <a:t>Sequence Numbers</a:t>
            </a:r>
          </a:p>
        </p:txBody>
      </p:sp>
    </p:spTree>
    <p:extLst>
      <p:ext uri="{BB962C8B-B14F-4D97-AF65-F5344CB8AC3E}">
        <p14:creationId xmlns:p14="http://schemas.microsoft.com/office/powerpoint/2010/main" val="1938212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542950"/>
          </a:xfrm>
        </p:spPr>
        <p:txBody>
          <a:bodyPr/>
          <a:lstStyle/>
          <a:p>
            <a:r>
              <a:rPr lang="en-US" altLang="en-US" sz="2800" dirty="0"/>
              <a:t>Modification of Messages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15566"/>
            <a:ext cx="8382000" cy="3657600"/>
          </a:xfrm>
        </p:spPr>
        <p:txBody>
          <a:bodyPr/>
          <a:lstStyle/>
          <a:p>
            <a:r>
              <a:rPr lang="en-US" altLang="en-US" sz="2400" dirty="0"/>
              <a:t>Some portion of a legitimate message is </a:t>
            </a:r>
            <a:r>
              <a:rPr lang="en-US" altLang="en-US" sz="2400" b="1" dirty="0">
                <a:solidFill>
                  <a:srgbClr val="0000FF"/>
                </a:solidFill>
              </a:rPr>
              <a:t>altered</a:t>
            </a:r>
            <a:r>
              <a:rPr lang="en-US" altLang="en-US" sz="2400" dirty="0"/>
              <a:t> or         messages are </a:t>
            </a:r>
            <a:r>
              <a:rPr lang="en-US" altLang="en-US" sz="2400" b="1" dirty="0">
                <a:solidFill>
                  <a:srgbClr val="0000FF"/>
                </a:solidFill>
              </a:rPr>
              <a:t>delayed</a:t>
            </a:r>
            <a:r>
              <a:rPr lang="en-US" altLang="en-US" sz="2400" dirty="0"/>
              <a:t> or </a:t>
            </a:r>
            <a:r>
              <a:rPr lang="en-US" altLang="en-US" sz="2400" b="1" dirty="0">
                <a:solidFill>
                  <a:srgbClr val="0000FF"/>
                </a:solidFill>
              </a:rPr>
              <a:t>reordered</a:t>
            </a:r>
            <a:r>
              <a:rPr lang="en-US" altLang="en-US" sz="2400" dirty="0"/>
              <a:t> to produce an         unauthorized effect.</a:t>
            </a:r>
          </a:p>
          <a:p>
            <a:r>
              <a:rPr lang="en-US" altLang="en-US" sz="2400" dirty="0"/>
              <a:t>How to protect?</a:t>
            </a:r>
          </a:p>
          <a:p>
            <a:pPr lvl="1"/>
            <a:r>
              <a:rPr lang="en-US" altLang="en-US" sz="2400" dirty="0"/>
              <a:t>Message Authentication Codes</a:t>
            </a:r>
          </a:p>
          <a:p>
            <a:pPr lvl="1"/>
            <a:r>
              <a:rPr lang="en-US" altLang="en-US" sz="2400" dirty="0"/>
              <a:t>Chaining (</a:t>
            </a:r>
            <a:r>
              <a:rPr lang="en-GB" altLang="en-US" sz="2400" dirty="0"/>
              <a:t>purified)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62879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ACE564-A4ED-A767-DE96-2716A23766A3}"/>
              </a:ext>
            </a:extLst>
          </p:cNvPr>
          <p:cNvSpPr txBox="1">
            <a:spLocks/>
          </p:cNvSpPr>
          <p:nvPr/>
        </p:nvSpPr>
        <p:spPr>
          <a:xfrm>
            <a:off x="2340496" y="1881190"/>
            <a:ext cx="4463008" cy="1381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defPPr>
              <a:defRPr lang="ko-KR"/>
            </a:defPPr>
            <a:lvl1pPr marL="0" algn="r" defTabSz="914400" rtl="0" eaLnBrk="1" latinLnBrk="1" hangingPunct="1">
              <a:defRPr sz="788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ko-KR" alt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017292"/>
      </p:ext>
    </p:extLst>
  </p:cSld>
  <p:clrMapOvr>
    <a:masterClrMapping/>
  </p:clrMapOvr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Contents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ection Break Sl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8959</TotalTime>
  <Words>999</Words>
  <Application>Microsoft Office PowerPoint</Application>
  <PresentationFormat>On-screen Show (16:9)</PresentationFormat>
  <Paragraphs>168</Paragraphs>
  <Slides>35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</vt:lpstr>
      <vt:lpstr>Calibri</vt:lpstr>
      <vt:lpstr>Times New Roman</vt:lpstr>
      <vt:lpstr>Tw Cen MT</vt:lpstr>
      <vt:lpstr>Wingdings</vt:lpstr>
      <vt:lpstr>Contents Slide Master</vt:lpstr>
      <vt:lpstr>Section Break Slide Master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 of Attacks in Computer Systems</vt:lpstr>
      <vt:lpstr>Normal Flow of Information</vt:lpstr>
      <vt:lpstr>Interruption</vt:lpstr>
      <vt:lpstr>Interruption</vt:lpstr>
      <vt:lpstr>Interception</vt:lpstr>
      <vt:lpstr>Interception</vt:lpstr>
      <vt:lpstr>Modification</vt:lpstr>
      <vt:lpstr>Modification</vt:lpstr>
      <vt:lpstr>Fabrication</vt:lpstr>
      <vt:lpstr>Fabrication</vt:lpstr>
      <vt:lpstr>Classification of Attacks</vt:lpstr>
      <vt:lpstr>Passive Attacks and Active Attacks</vt:lpstr>
      <vt:lpstr>Passive Attacks and Active Attacks</vt:lpstr>
      <vt:lpstr>Passive Attacks</vt:lpstr>
      <vt:lpstr>Release-of-message Contents</vt:lpstr>
      <vt:lpstr>Traffic Analysis</vt:lpstr>
      <vt:lpstr>Passive Attacks Problems</vt:lpstr>
      <vt:lpstr>Active Attacks</vt:lpstr>
      <vt:lpstr>Masquerade</vt:lpstr>
      <vt:lpstr>Replay</vt:lpstr>
      <vt:lpstr>Modification of Messages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Kamlesh Kumar</cp:lastModifiedBy>
  <cp:revision>118</cp:revision>
  <dcterms:created xsi:type="dcterms:W3CDTF">2016-12-05T23:26:54Z</dcterms:created>
  <dcterms:modified xsi:type="dcterms:W3CDTF">2026-02-16T12:01:14Z</dcterms:modified>
</cp:coreProperties>
</file>